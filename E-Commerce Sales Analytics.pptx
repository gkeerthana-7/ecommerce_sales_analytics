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3" r:id="rId4"/>
    <p:sldId id="278" r:id="rId5"/>
    <p:sldId id="274" r:id="rId6"/>
    <p:sldId id="277" r:id="rId7"/>
    <p:sldId id="259" r:id="rId8"/>
    <p:sldId id="261" r:id="rId9"/>
    <p:sldId id="262" r:id="rId10"/>
    <p:sldId id="264" r:id="rId11"/>
    <p:sldId id="271" r:id="rId12"/>
    <p:sldId id="272" r:id="rId13"/>
    <p:sldId id="266" r:id="rId14"/>
    <p:sldId id="267" r:id="rId15"/>
    <p:sldId id="279" r:id="rId16"/>
    <p:sldId id="268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3" Type="http://schemas.openxmlformats.org/officeDocument/2006/relationships/image" Target="../media/image45.png"/><Relationship Id="rId21" Type="http://schemas.openxmlformats.org/officeDocument/2006/relationships/image" Target="../media/image63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image" Target="../media/image17.png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24" Type="http://schemas.openxmlformats.org/officeDocument/2006/relationships/image" Target="../media/image66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10" Type="http://schemas.openxmlformats.org/officeDocument/2006/relationships/image" Target="../media/image52.png"/><Relationship Id="rId19" Type="http://schemas.openxmlformats.org/officeDocument/2006/relationships/image" Target="../media/image61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18" Type="http://schemas.openxmlformats.org/officeDocument/2006/relationships/image" Target="../media/image82.png"/><Relationship Id="rId3" Type="http://schemas.openxmlformats.org/officeDocument/2006/relationships/image" Target="../media/image67.png"/><Relationship Id="rId21" Type="http://schemas.openxmlformats.org/officeDocument/2006/relationships/image" Target="../media/image85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17" Type="http://schemas.openxmlformats.org/officeDocument/2006/relationships/image" Target="../media/image81.png"/><Relationship Id="rId2" Type="http://schemas.openxmlformats.org/officeDocument/2006/relationships/image" Target="../media/image17.png"/><Relationship Id="rId16" Type="http://schemas.openxmlformats.org/officeDocument/2006/relationships/image" Target="../media/image80.png"/><Relationship Id="rId20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19" Type="http://schemas.openxmlformats.org/officeDocument/2006/relationships/image" Target="../media/image83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18" Type="http://schemas.openxmlformats.org/officeDocument/2006/relationships/image" Target="../media/image108.png"/><Relationship Id="rId3" Type="http://schemas.openxmlformats.org/officeDocument/2006/relationships/image" Target="../media/image93.png"/><Relationship Id="rId21" Type="http://schemas.openxmlformats.org/officeDocument/2006/relationships/image" Target="../media/image111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17.png"/><Relationship Id="rId16" Type="http://schemas.openxmlformats.org/officeDocument/2006/relationships/image" Target="../media/image106.png"/><Relationship Id="rId20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19" Type="http://schemas.openxmlformats.org/officeDocument/2006/relationships/image" Target="../media/image109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26" Type="http://schemas.openxmlformats.org/officeDocument/2006/relationships/image" Target="../media/image137.png"/><Relationship Id="rId3" Type="http://schemas.openxmlformats.org/officeDocument/2006/relationships/image" Target="../media/image114.png"/><Relationship Id="rId21" Type="http://schemas.openxmlformats.org/officeDocument/2006/relationships/image" Target="../media/image132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5" Type="http://schemas.openxmlformats.org/officeDocument/2006/relationships/image" Target="../media/image136.png"/><Relationship Id="rId2" Type="http://schemas.openxmlformats.org/officeDocument/2006/relationships/image" Target="../media/image17.png"/><Relationship Id="rId16" Type="http://schemas.openxmlformats.org/officeDocument/2006/relationships/image" Target="../media/image127.png"/><Relationship Id="rId20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24" Type="http://schemas.openxmlformats.org/officeDocument/2006/relationships/image" Target="../media/image135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23" Type="http://schemas.openxmlformats.org/officeDocument/2006/relationships/image" Target="../media/image134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Relationship Id="rId22" Type="http://schemas.openxmlformats.org/officeDocument/2006/relationships/image" Target="../media/image133.png"/><Relationship Id="rId27" Type="http://schemas.openxmlformats.org/officeDocument/2006/relationships/image" Target="../media/image1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image" Target="../media/image139.png"/><Relationship Id="rId16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050" y="3257103"/>
            <a:ext cx="834390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463653"/>
            <a:ext cx="11163300" cy="285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63150" y="423862"/>
            <a:ext cx="17145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endParaRPr sz="900" b="0" i="0" u="none" dirty="0">
              <a:solidFill>
                <a:srgbClr val="94A3B8"/>
              </a:solidFill>
              <a:latin typeface="Inter SemiBold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373" y="1516112"/>
            <a:ext cx="3841253" cy="2762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15452" y="1982837"/>
            <a:ext cx="8761095" cy="52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E-Commerce Sales Analytics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0" y="2660898"/>
            <a:ext cx="7239000" cy="2533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95"/>
              </a:lnSpc>
            </a:pPr>
            <a:r>
              <a:rPr sz="1425" b="0" i="0" u="none">
                <a:solidFill>
                  <a:srgbClr val="CBD5E1"/>
                </a:solidFill>
                <a:latin typeface="Inter"/>
              </a:rPr>
              <a:t>End-to-End Data Engineering &amp; Business Intelligence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4620498"/>
            <a:ext cx="2781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94A3B8"/>
                </a:solidFill>
                <a:latin typeface="Inter"/>
              </a:rPr>
              <a:t>Project: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 Enterprise E-Commerce Analytics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4820840"/>
            <a:ext cx="3324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94A3B8"/>
                </a:solidFill>
                <a:latin typeface="Inter"/>
              </a:rPr>
              <a:t>Orchestration: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 Apache Airflow | </a:t>
            </a:r>
            <a:r>
              <a:rPr sz="900" b="1" i="0" u="none" dirty="0">
                <a:solidFill>
                  <a:srgbClr val="94A3B8"/>
                </a:solidFill>
                <a:latin typeface="Inter"/>
              </a:rPr>
              <a:t>Quality: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sz="900" b="0" i="0" u="none" dirty="0" err="1">
                <a:solidFill>
                  <a:srgbClr val="94A3B8"/>
                </a:solidFill>
                <a:latin typeface="Inter"/>
              </a:rPr>
              <a:t>Pytest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 | </a:t>
            </a:r>
            <a:r>
              <a:rPr sz="900" b="1" i="0" u="none" dirty="0">
                <a:solidFill>
                  <a:srgbClr val="94A3B8"/>
                </a:solidFill>
                <a:latin typeface="Inter"/>
              </a:rPr>
              <a:t>Alerts:</a:t>
            </a:r>
            <a:r>
              <a:rPr sz="900" b="0" i="0" u="none" dirty="0">
                <a:solidFill>
                  <a:srgbClr val="94A3B8"/>
                </a:solidFill>
                <a:latin typeface="Inter"/>
              </a:rPr>
              <a:t> 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2200" y="3423791"/>
            <a:ext cx="6762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Source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250" y="3423791"/>
            <a:ext cx="10953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Azure (ADF / ADLS)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5875" y="3423791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Databricks 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825" y="3423791"/>
            <a:ext cx="80962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dbt Silver/Gold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700" y="3423791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Gold Star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3423791"/>
            <a:ext cx="666750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 u="none">
                <a:solidFill>
                  <a:srgbClr val="E2E8F0"/>
                </a:solidFill>
                <a:latin typeface="Inter SemiBold"/>
              </a:rPr>
              <a:t>Dashboards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0275" y="3438078"/>
            <a:ext cx="104775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4675" y="3419028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225" y="3438078"/>
            <a:ext cx="142875" cy="1143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3419028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5375" y="3438078"/>
            <a:ext cx="13335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0" y="3419028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438078"/>
            <a:ext cx="142875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6650" y="3419028"/>
            <a:ext cx="13335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6200" y="3438078"/>
            <a:ext cx="13335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3975" y="3419028"/>
            <a:ext cx="1333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3525" y="3438078"/>
            <a:ext cx="114300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4955" y="4963715"/>
            <a:ext cx="88080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Anish Kumar</a:t>
            </a:r>
          </a:p>
          <a:p>
            <a:r>
              <a:rPr lang="en-IN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Manjunatha</a:t>
            </a:r>
            <a:endParaRPr lang="en-IN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Keerthana</a:t>
            </a:r>
            <a:endParaRPr lang="en-IN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Pathan</a:t>
            </a:r>
            <a:endParaRPr lang="en-IN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Pusphavathi</a:t>
            </a:r>
            <a:endParaRPr lang="en-IN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Tejas</a:t>
            </a:r>
            <a:endParaRPr lang="en-I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559836"/>
            <a:ext cx="10459617" cy="588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9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70FDD9-4323-F859-029F-DA97765A4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1" y="186813"/>
            <a:ext cx="11805920" cy="65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79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981" y="251927"/>
            <a:ext cx="8589477" cy="641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8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10343"/>
            <a:ext cx="10058400" cy="5084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0849" y="317241"/>
            <a:ext cx="91533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Low Level Architecture</a:t>
            </a: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36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85" y="927244"/>
            <a:ext cx="10529171" cy="54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0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057275"/>
            <a:ext cx="11163300" cy="885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5584626"/>
            <a:ext cx="3644800" cy="438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450" y="5584626"/>
            <a:ext cx="3644949" cy="438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700" y="5584626"/>
            <a:ext cx="3644800" cy="438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" y="2324100"/>
            <a:ext cx="3644800" cy="739973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3450" y="2324100"/>
            <a:ext cx="3644949" cy="7399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2700" y="2324100"/>
            <a:ext cx="3644800" cy="739973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3178373"/>
            <a:ext cx="3644800" cy="739973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3450" y="3178373"/>
            <a:ext cx="3644949" cy="73997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2700" y="3178373"/>
            <a:ext cx="3644800" cy="7399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50" y="419100"/>
            <a:ext cx="507266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Data Ingestion &amp; Azure Data Lake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2095500"/>
            <a:ext cx="109632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Six Ingested E-Commerce Core Datasets: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1514475"/>
            <a:ext cx="327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Inter"/>
              </a:rPr>
              <a:t>Source CSV Feeds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1666875"/>
            <a:ext cx="327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Raw E-Commerce Snapshots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56025" y="1423987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60825" y="1514475"/>
            <a:ext cx="3270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369A1"/>
                </a:solidFill>
                <a:latin typeface="Inter"/>
              </a:rPr>
              <a:t>Azure Data Factory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0825" y="1666875"/>
            <a:ext cx="32702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Batch Ingestion &amp; File Movement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2475" y="1423987"/>
            <a:ext cx="133350" cy="152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07275" y="1514475"/>
            <a:ext cx="3270349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E40AF"/>
                </a:solidFill>
                <a:latin typeface="Inter"/>
              </a:rPr>
              <a:t>ADLS Gen2 Container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275" y="1666875"/>
            <a:ext cx="32703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Inter"/>
              </a:rPr>
              <a:t>Scalable Storage / Bronze Delta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4350" y="2109787"/>
            <a:ext cx="123825" cy="1238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8175" y="5670351"/>
            <a:ext cx="1009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Inter"/>
              </a:rPr>
              <a:t>Azure Data Factory: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7275" y="5670351"/>
            <a:ext cx="1447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E40AF"/>
                </a:solidFill>
                <a:latin typeface="Inter"/>
              </a:rPr>
              <a:t>ADLS Gen2 Central Storage: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6525" y="5670351"/>
            <a:ext cx="990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A3412"/>
                </a:solidFill>
                <a:latin typeface="Inter"/>
              </a:rPr>
              <a:t>Databricks Mounts: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63675" y="1219200"/>
            <a:ext cx="171450" cy="2286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81551" y="1219200"/>
            <a:ext cx="228600" cy="2286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42437" y="1219200"/>
            <a:ext cx="200025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43050" y="2447925"/>
            <a:ext cx="24922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175" y="2657475"/>
            <a:ext cx="3397150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Unique customer IDs, customer zip code prefixes, customer cities, and Brazilian customer state geographies.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5450" y="2447925"/>
            <a:ext cx="2759124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97275" y="2657475"/>
            <a:ext cx="339729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Order IDs, customer IDs, purchase timestamps, approval timestamps, carrier handoff, delivered dates, and order status.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1875" y="2447925"/>
            <a:ext cx="25018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Order Items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525" y="2657475"/>
            <a:ext cx="3397150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Individual line items, order sequence IDs, product keys, seller keys, item unit prices, and freight shipping charges.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9225" y="3302198"/>
            <a:ext cx="26161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Products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175" y="3511748"/>
            <a:ext cx="3397150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Product identifiers, category names, physical dimensions (length, height, width), package weight, and photos quantity.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4500" y="3302198"/>
            <a:ext cx="2740074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Sellers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97275" y="3511748"/>
            <a:ext cx="3397299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Merchant seller identifiers, regional seller zip code prefixes, seller fulfillment cities, and seller states.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0050" y="3302198"/>
            <a:ext cx="186362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Category Translation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525" y="3511748"/>
            <a:ext cx="3397150" cy="2827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Cross-lingual mapping translating localized Portuguese source product category strings into clean English attributes.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87625" y="2447925"/>
            <a:ext cx="647700" cy="15240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756350" y="2447925"/>
            <a:ext cx="1038225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648801" y="2447925"/>
            <a:ext cx="904875" cy="1524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01900" y="3302198"/>
            <a:ext cx="733425" cy="1524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0200" y="3302198"/>
            <a:ext cx="714375" cy="1524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667851" y="3302198"/>
            <a:ext cx="885825" cy="1524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8175" y="2466975"/>
            <a:ext cx="152400" cy="1238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97275" y="2466975"/>
            <a:ext cx="142875" cy="12382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56525" y="2466975"/>
            <a:ext cx="95250" cy="12382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38175" y="3321248"/>
            <a:ext cx="152400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97275" y="3321248"/>
            <a:ext cx="142875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156525" y="3321248"/>
            <a:ext cx="15240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562100"/>
            <a:ext cx="3644800" cy="20215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3450" y="1562100"/>
            <a:ext cx="3644949" cy="20215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00" y="1562100"/>
            <a:ext cx="3644800" cy="20215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3697932"/>
            <a:ext cx="3644800" cy="216291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3450" y="3697932"/>
            <a:ext cx="3644949" cy="2162919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2700" y="3697932"/>
            <a:ext cx="3644800" cy="21629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350" y="419100"/>
            <a:ext cx="658535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Silver Layer — Data Quality &amp; Business Transformation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807" y="523875"/>
            <a:ext cx="2121842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" y="1057275"/>
            <a:ext cx="11163300" cy="3524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475" y="1162050"/>
            <a:ext cx="904875" cy="1428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EA580C"/>
                </a:solidFill>
                <a:latin typeface="Inter"/>
              </a:rPr>
              <a:t>Bronze Ingest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23" y="1176337"/>
            <a:ext cx="104775" cy="1143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61071" y="1162050"/>
            <a:ext cx="647700" cy="1428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Cleaning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8245" y="1176337"/>
            <a:ext cx="104775" cy="114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712493" y="1162050"/>
            <a:ext cx="685800" cy="1428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D9488"/>
                </a:solidFill>
                <a:latin typeface="Inter"/>
              </a:rPr>
              <a:t>Validation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7767" y="1176337"/>
            <a:ext cx="104775" cy="1143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2015" y="1162050"/>
            <a:ext cx="533400" cy="142875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366F1"/>
                </a:solidFill>
                <a:latin typeface="Inter"/>
              </a:rPr>
              <a:t>Joining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84889" y="1176337"/>
            <a:ext cx="104775" cy="114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39137" y="1162050"/>
            <a:ext cx="781050" cy="1428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8B5CF6"/>
                </a:solidFill>
                <a:latin typeface="Inter"/>
              </a:rPr>
              <a:t>Enrichment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9660" y="1176337"/>
            <a:ext cx="104775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23909" y="1162050"/>
            <a:ext cx="1114425" cy="14287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34155"/>
                </a:solidFill>
                <a:latin typeface="Inter"/>
              </a:rPr>
              <a:t>Silver Conformed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1181100"/>
            <a:ext cx="114300" cy="1143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1071" y="1181100"/>
            <a:ext cx="133350" cy="1143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12493" y="1181100"/>
            <a:ext cx="114300" cy="1143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2015" y="1181100"/>
            <a:ext cx="104775" cy="1143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9137" y="1181100"/>
            <a:ext cx="133350" cy="1143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23909" y="1181100"/>
            <a:ext cx="114300" cy="1143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66750" y="1685925"/>
            <a:ext cx="3368575" cy="1524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Customers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5850" y="1685925"/>
            <a:ext cx="3368724" cy="1524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5100" y="1685925"/>
            <a:ext cx="3368575" cy="1524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Order Items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6750" y="3821757"/>
            <a:ext cx="3368575" cy="1524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Products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850" y="3821757"/>
            <a:ext cx="3368724" cy="152400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Sellers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5100" y="3821757"/>
            <a:ext cx="3368575" cy="152400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Silver Category Translation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6750" y="1704975"/>
            <a:ext cx="152400" cy="1238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2000" y="189476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150" y="1895475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Removes duplicate customer records using window functions.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2074247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" y="2074961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Validates 32-character hexadecimal customer IDs.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2253734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2254448"/>
            <a:ext cx="3216175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Standardizes city names (lowercasing, trimming accents) and uppercase 2-letter state codes.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5850" y="1704975"/>
            <a:ext cx="142875" cy="12382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521100" y="189476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8250" y="1895475"/>
            <a:ext cx="3216324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Parses timestamps into UTC timestamps; handles format discrepancies.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1100" y="2215634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8250" y="2216348"/>
            <a:ext cx="3216324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Standardizes order statuses (delivered, shipped, canceled).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1100" y="239512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8250" y="2395835"/>
            <a:ext cx="3216324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Calculates derived logistics: purchase-to-delivery lead time in days and delivery delay intervals.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85100" y="1704975"/>
            <a:ext cx="95250" cy="12382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280350" y="1894760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7500" y="1895475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Validates non-negative price and freight values.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350" y="2074247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7500" y="2074961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Casts item sequential identifiers to standard integers.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350" y="2253734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7500" y="2254448"/>
            <a:ext cx="3216175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Calculates total transaction value (item price + freight cost) at line-item granularity.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3840807"/>
            <a:ext cx="152400" cy="12382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62000" y="4030593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150" y="4031307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Validates dimensions (length, height, width, weight in grams).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0" y="4210079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150" y="4210794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Replaces null categories with standardized 'Unknown' tags.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" y="4389566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150" y="4390280"/>
            <a:ext cx="3216175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Cleans product name length and description character counts.</a:t>
            </a:r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25850" y="3840807"/>
            <a:ext cx="142875" cy="123825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4521100" y="4030593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8250" y="4031307"/>
            <a:ext cx="3216324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Validates unique seller UUID keys against duplicates.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21100" y="4210079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8250" y="4210794"/>
            <a:ext cx="3216324" cy="141386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Standardizes seller geographic locations and zip prefix codes.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1100" y="4389566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8250" y="4390280"/>
            <a:ext cx="3216324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Conforms seller state representations for unified regional analytics.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85100" y="3840807"/>
            <a:ext cx="152400" cy="12382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280350" y="4030593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37500" y="4031307"/>
            <a:ext cx="3216175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Maps Portuguese product category strings to conformed English names.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0350" y="4351466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37500" y="4352180"/>
            <a:ext cx="3216175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Establishes clean cross-reference dimension keys for gold joins.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80350" y="4672339"/>
            <a:ext cx="57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337500" y="4673054"/>
            <a:ext cx="3216175" cy="282773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Applies default fallback values for newly observed source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867" y="2639913"/>
            <a:ext cx="4792116" cy="2057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323207"/>
            <a:ext cx="2995017" cy="7953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270944"/>
            <a:ext cx="2995017" cy="7953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4218682"/>
            <a:ext cx="2995017" cy="7953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1317" y="4316313"/>
            <a:ext cx="4449216" cy="209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2483" y="2344935"/>
            <a:ext cx="2995166" cy="7953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2483" y="3292673"/>
            <a:ext cx="2995166" cy="795337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2483" y="4240410"/>
            <a:ext cx="2995166" cy="75173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71317" y="3163788"/>
            <a:ext cx="2186433" cy="10572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3951" y="3163788"/>
            <a:ext cx="2186582" cy="10572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50" y="419100"/>
            <a:ext cx="530800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Gold Layer — Business-Ready Star Schema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14495" y="523875"/>
            <a:ext cx="1663154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4350" y="2066032"/>
            <a:ext cx="111633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Inter"/>
              </a:rPr>
              <a:t>High-performance dimensional model centered on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fact_order_items</a:t>
            </a:r>
            <a:r>
              <a:rPr sz="900" b="0" i="0" u="none">
                <a:solidFill>
                  <a:srgbClr val="64748B"/>
                </a:solidFill>
                <a:latin typeface="Inter"/>
              </a:rPr>
              <a:t>, optimized for low-latency BI aggregations.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150" y="2447032"/>
            <a:ext cx="178534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 dim_customer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Dimension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2628007"/>
            <a:ext cx="270926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monospace"/>
              </a:rPr>
              <a:t>• customer_id (PK)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customer_city, state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customer_segment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0650" y="3394769"/>
            <a:ext cx="197584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 dim_order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Dimension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3575744"/>
            <a:ext cx="270926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monospace"/>
              </a:rPr>
              <a:t>• order_id (PK)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order_status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purchase_timestamp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0650" y="4342507"/>
            <a:ext cx="1975842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 dim_seller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Dimension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4523482"/>
            <a:ext cx="2709267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monospace"/>
              </a:rPr>
              <a:t>• seller_id (PK)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seller_city, state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seller_zip_code_prefix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1317" y="2811363"/>
            <a:ext cx="1447800" cy="18097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854D0E"/>
                </a:solidFill>
                <a:latin typeface="Plus Jakarta Sans ExtraBold"/>
              </a:rPr>
              <a:t>fact_order_items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44233" y="2825650"/>
            <a:ext cx="876300" cy="152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63558" y="2468760"/>
            <a:ext cx="1871216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 dim_product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Dimension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5358" y="2649735"/>
            <a:ext cx="2709416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monospace"/>
              </a:rPr>
              <a:t>• product_id (PK)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product_weight_g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product_dimensions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5533" y="3416498"/>
            <a:ext cx="1309241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Inter"/>
              </a:rPr>
              <a:t> dim_product_category </a:t>
            </a:r>
            <a:r>
              <a:rPr sz="900" b="1" i="0" u="none">
                <a:solidFill>
                  <a:srgbClr val="64748B"/>
                </a:solidFill>
                <a:latin typeface="Inter"/>
              </a:rPr>
              <a:t>Dimension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5358" y="3597473"/>
            <a:ext cx="2709416" cy="3857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12"/>
              </a:lnSpc>
            </a:pPr>
            <a:r>
              <a:rPr sz="750" b="0" i="0" u="none">
                <a:solidFill>
                  <a:srgbClr val="475569"/>
                </a:solidFill>
                <a:latin typeface="monospace"/>
              </a:rPr>
              <a:t>• product_category_name (PK)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english_category_name</a:t>
            </a:r>
            <a:r>
              <a:t>
</a:t>
            </a:r>
            <a:r>
              <a:rPr sz="750" b="0" i="0" u="none">
                <a:solidFill>
                  <a:srgbClr val="475569"/>
                </a:solidFill>
                <a:latin typeface="monospace"/>
              </a:rPr>
              <a:t> • category_group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5358" y="4345185"/>
            <a:ext cx="2709416" cy="133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Inter"/>
              </a:rPr>
              <a:t>BI Optimization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5358" y="4497585"/>
            <a:ext cx="2709416" cy="389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23"/>
              </a:lnSpc>
            </a:pPr>
            <a:r>
              <a:rPr sz="787" b="0" i="0" u="none">
                <a:solidFill>
                  <a:srgbClr val="15803D"/>
                </a:solidFill>
                <a:latin typeface="Inter"/>
              </a:rPr>
              <a:t>Structured strictly as a Star Schema to support direct slice-and-dice operations across commercial reporting tools.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71317" y="2839938"/>
            <a:ext cx="161925" cy="1428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947517" y="3239988"/>
            <a:ext cx="2034033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854D0E"/>
                </a:solidFill>
                <a:latin typeface="Inter"/>
              </a:rPr>
              <a:t>Foreign Keys (FK)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0151" y="3239988"/>
            <a:ext cx="2034182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854D0E"/>
                </a:solidFill>
                <a:latin typeface="Inter"/>
              </a:rPr>
              <a:t>Metrics &amp; Measures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25358" y="4364235"/>
            <a:ext cx="95250" cy="1047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2466082"/>
            <a:ext cx="10477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225" y="3413819"/>
            <a:ext cx="133350" cy="11430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4361557"/>
            <a:ext cx="133350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825358" y="2487810"/>
            <a:ext cx="10477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25358" y="3435548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5584626"/>
            <a:ext cx="11163300" cy="4381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7317" y="68826"/>
            <a:ext cx="6703451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950" b="0" i="0" u="none" dirty="0" smtClean="0">
                <a:solidFill>
                  <a:srgbClr val="0F172A"/>
                </a:solidFill>
                <a:latin typeface="Plus Jakarta Sans ExtraBold"/>
              </a:rPr>
              <a:t>     </a:t>
            </a:r>
            <a:r>
              <a:rPr sz="1950" b="0" i="0" u="none" dirty="0" err="1" smtClean="0">
                <a:solidFill>
                  <a:srgbClr val="0F172A"/>
                </a:solidFill>
                <a:latin typeface="Plus Jakarta Sans ExtraBold"/>
              </a:rPr>
              <a:t>Databricks</a:t>
            </a:r>
            <a:r>
              <a:rPr sz="1950" b="0" i="0" u="none" dirty="0" smtClean="0">
                <a:solidFill>
                  <a:srgbClr val="0F172A"/>
                </a:solidFill>
                <a:latin typeface="Plus Jakarta Sans ExtraBold"/>
              </a:rPr>
              <a:t> </a:t>
            </a:r>
            <a:r>
              <a:rPr sz="1950" b="0" i="0" u="none" dirty="0">
                <a:solidFill>
                  <a:srgbClr val="0F172A"/>
                </a:solidFill>
                <a:latin typeface="Plus Jakarta Sans ExtraBold"/>
              </a:rPr>
              <a:t>Dashboard — Executive Sales &amp; Demand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2903" y="1"/>
            <a:ext cx="1784746" cy="30008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952750" y="1190625"/>
            <a:ext cx="1409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F1F5F9"/>
                </a:solidFill>
                <a:latin typeface="Inter"/>
              </a:rPr>
              <a:t>Executive Sales Overview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8625" y="2362200"/>
            <a:ext cx="3390900" cy="133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F1F5F9"/>
                </a:solidFill>
                <a:latin typeface="Inter"/>
              </a:rPr>
              <a:t>Orders &amp; Revenue by Day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201400" y="3340000"/>
            <a:ext cx="2381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16.1%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72825" y="3482875"/>
            <a:ext cx="2667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16.8%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172825" y="3625750"/>
            <a:ext cx="2667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16.3%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72825" y="3768625"/>
            <a:ext cx="2667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15.2%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172825" y="3911500"/>
            <a:ext cx="2667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14.8%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72825" y="4054375"/>
            <a:ext cx="2667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10.9%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10925" y="4197250"/>
            <a:ext cx="2286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0" i="0" u="none">
                <a:solidFill>
                  <a:srgbClr val="F1F5F9"/>
                </a:solidFill>
                <a:latin typeface="Inter"/>
              </a:rPr>
              <a:t>9.9%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82C404BD-74C9-0202-8CFA-25AD36426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519" y="765110"/>
            <a:ext cx="6139941" cy="560576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097EA034-5040-D948-22F1-E19B49C6C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1" y="765110"/>
            <a:ext cx="5815477" cy="56057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0469E0-A55C-3968-372A-463C20EB4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2" y="116840"/>
            <a:ext cx="7061198" cy="6624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5FFECC-8E77-AA3C-F3B9-37D153C46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080" y="101600"/>
            <a:ext cx="4856478" cy="662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271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B20CE-F266-894C-2A28-113FD9C9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1" y="111760"/>
            <a:ext cx="11968480" cy="664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318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19610"/>
            <a:ext cx="11163300" cy="3903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1057275"/>
            <a:ext cx="2690812" cy="90993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8512" y="1057275"/>
            <a:ext cx="2690812" cy="9099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75" y="1057275"/>
            <a:ext cx="2690812" cy="9099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6837" y="1057275"/>
            <a:ext cx="2690812" cy="9099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3955851"/>
            <a:ext cx="1087755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355901"/>
            <a:ext cx="10877550" cy="3238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55951"/>
            <a:ext cx="1087755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5156001"/>
            <a:ext cx="10877550" cy="323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5556051"/>
            <a:ext cx="10877550" cy="323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4350" y="6022776"/>
            <a:ext cx="11163300" cy="41612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350" y="419100"/>
            <a:ext cx="646612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Business Value Delivered &amp; Key Questions Answered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01572" y="523875"/>
            <a:ext cx="1476077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7225" y="2262485"/>
            <a:ext cx="10877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Five Critical Executive Questions Directly Answered by the Platform: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1209675"/>
            <a:ext cx="2262187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Inter"/>
              </a:rPr>
              <a:t>Sales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" y="1419225"/>
            <a:ext cx="2443162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Delivers automated visibility into revenue trajectories, order growth, and average order values without manual compilation.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1887" y="1209675"/>
            <a:ext cx="223361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047857"/>
                </a:solidFill>
                <a:latin typeface="Inter"/>
              </a:rPr>
              <a:t>Customer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2337" y="1419225"/>
            <a:ext cx="2443162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Segments customer base by order frequency, distinguishing first-time buyers from repeat loyal cohorts.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6050" y="1209675"/>
            <a:ext cx="223361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B45309"/>
                </a:solidFill>
                <a:latin typeface="Inter"/>
              </a:rPr>
              <a:t>Products &amp; Sellers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6500" y="1419225"/>
            <a:ext cx="2443162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Identifies top volume categories and isolates merchant partners with exceptional fulfillment throughput.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0212" y="1209675"/>
            <a:ext cx="2233612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6D28D9"/>
                </a:solidFill>
                <a:latin typeface="Inter"/>
              </a:rPr>
              <a:t>Operational Fulfillment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0662" y="1419225"/>
            <a:ext cx="2443162" cy="424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13"/>
              </a:lnSpc>
            </a:pPr>
            <a:r>
              <a:rPr sz="825" b="0" i="0" u="none">
                <a:solidFill>
                  <a:srgbClr val="475569"/>
                </a:solidFill>
                <a:latin typeface="Inter"/>
              </a:rPr>
              <a:t>Monitors carrier delivery lead times, identifies shipping bottlenecks, and tracks delay flags by geographic zone.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" y="1223962"/>
            <a:ext cx="123825" cy="1238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62337" y="1223962"/>
            <a:ext cx="152400" cy="1238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86500" y="1223962"/>
            <a:ext cx="152400" cy="1238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0662" y="1223962"/>
            <a:ext cx="152400" cy="123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4022526"/>
            <a:ext cx="190500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47750" y="4051101"/>
            <a:ext cx="70580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Are sales growing?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Yes; verified monthly revenue trajectories showcase steady year-over-year gains and strong Q4 promotional surges.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2000" y="4422576"/>
            <a:ext cx="190500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47750" y="4451151"/>
            <a:ext cx="78771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Which markets should the business focus on?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Focus on São Paulo (42%) and Southeast Brazil while expanding shipping efficiency into outlying states.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822626"/>
            <a:ext cx="1905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47750" y="4851201"/>
            <a:ext cx="7248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Which products and categories drive sales?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Bed, Bath &amp; Table, Health &amp; Beauty, and Sports &amp; Leisure drive core revenue and order volume.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000" y="5222676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47750" y="5251251"/>
            <a:ext cx="73247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Are there delivery problems?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Delivery duration averages 12.5 days; outlier delays are flagged automatically at row-level for operational triage.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5622726"/>
            <a:ext cx="190500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47750" y="5651301"/>
            <a:ext cx="74961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Are customers coming back?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Currently ~3.1% repeat purchase rate, establishing a proven analytical baseline for customer retention campaigns.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525" y="457200"/>
            <a:ext cx="10058400" cy="56608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904" y="513183"/>
            <a:ext cx="10058400" cy="566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6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83" y="1039713"/>
            <a:ext cx="11163300" cy="1314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5737026"/>
            <a:ext cx="11163300" cy="285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2524125"/>
            <a:ext cx="6005810" cy="306050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2560" y="2524125"/>
            <a:ext cx="5005089" cy="3060501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1504950"/>
            <a:ext cx="971550" cy="685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6049" y="1527170"/>
            <a:ext cx="883443" cy="685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67362" y="1504950"/>
            <a:ext cx="981075" cy="685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1956" y="1504950"/>
            <a:ext cx="914400" cy="685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29875" y="1504950"/>
            <a:ext cx="1009650" cy="685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44010" y="4527351"/>
            <a:ext cx="4690764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44010" y="5022651"/>
            <a:ext cx="4690764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4350" y="419100"/>
            <a:ext cx="561710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Plus Jakarta Sans ExtraBold"/>
              </a:rPr>
              <a:t>Airflow — End-to-End Pipeline Orchestration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40528" y="523875"/>
            <a:ext cx="1737121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57550" y="1238250"/>
            <a:ext cx="8181975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 Production Airflow DAG Execution Flow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9225" y="1238250"/>
            <a:ext cx="24003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7225" y="2667000"/>
            <a:ext cx="5720060" cy="152400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l"/>
            <a:r>
              <a:rPr lang="en-IN" sz="975" b="1" i="0" u="none" dirty="0" smtClean="0">
                <a:solidFill>
                  <a:srgbClr val="0F172A"/>
                </a:solidFill>
                <a:latin typeface="Inter"/>
              </a:rPr>
              <a:t>   </a:t>
            </a:r>
            <a:r>
              <a:rPr sz="975" b="1" i="0" u="none" dirty="0" smtClean="0">
                <a:solidFill>
                  <a:srgbClr val="0F172A"/>
                </a:solidFill>
                <a:latin typeface="Inter"/>
              </a:rPr>
              <a:t>Orchestration </a:t>
            </a:r>
            <a:r>
              <a:rPr sz="975" b="1" i="0" u="none" dirty="0">
                <a:solidFill>
                  <a:srgbClr val="0F172A"/>
                </a:solidFill>
                <a:latin typeface="Inter"/>
              </a:rPr>
              <a:t>Capabilities: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4510" y="2667000"/>
            <a:ext cx="4500264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75" b="1" i="0" u="none">
                <a:solidFill>
                  <a:srgbClr val="BE185D"/>
                </a:solidFill>
                <a:latin typeface="Inter"/>
              </a:rPr>
              <a:t> Slack Automated Operational Webhooks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2475" y="1257300"/>
            <a:ext cx="142875" cy="1238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95350" y="1847850"/>
            <a:ext cx="685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 dirty="0" smtClean="0">
                <a:solidFill>
                  <a:srgbClr val="0F172A"/>
                </a:solidFill>
                <a:latin typeface="Inter"/>
              </a:rPr>
              <a:t>Start DAG</a:t>
            </a:r>
            <a:endParaRPr sz="825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" y="1981200"/>
            <a:ext cx="6858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64748B"/>
                </a:solidFill>
                <a:latin typeface="Inter"/>
              </a:rPr>
              <a:t>Schedule Trigger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99109" y="1831776"/>
            <a:ext cx="80740" cy="9227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50417" y="1812131"/>
            <a:ext cx="1265635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 dirty="0" err="1" smtClean="0">
                <a:solidFill>
                  <a:srgbClr val="0F172A"/>
                </a:solidFill>
                <a:latin typeface="Inter"/>
              </a:rPr>
              <a:t>dbt</a:t>
            </a:r>
            <a:r>
              <a:rPr sz="825" b="1" i="0" u="none" dirty="0" smtClean="0">
                <a:solidFill>
                  <a:srgbClr val="0F172A"/>
                </a:solidFill>
                <a:latin typeface="Inter"/>
              </a:rPr>
              <a:t> </a:t>
            </a:r>
            <a:r>
              <a:rPr sz="825" b="1" i="0" u="none" dirty="0">
                <a:solidFill>
                  <a:srgbClr val="0F172A"/>
                </a:solidFill>
                <a:latin typeface="Inter"/>
              </a:rPr>
              <a:t>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0418" y="1970188"/>
            <a:ext cx="1265634" cy="10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 dirty="0" err="1">
                <a:solidFill>
                  <a:srgbClr val="64748B"/>
                </a:solidFill>
                <a:latin typeface="Inter"/>
              </a:rPr>
              <a:t>dbt</a:t>
            </a:r>
            <a:r>
              <a:rPr sz="675" b="0" i="0" u="none" dirty="0">
                <a:solidFill>
                  <a:srgbClr val="64748B"/>
                </a:solidFill>
                <a:latin typeface="Inter"/>
              </a:rPr>
              <a:t> Cloud Job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8928" y="1771650"/>
            <a:ext cx="133350" cy="152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0237" y="1847850"/>
            <a:ext cx="6953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F172A"/>
                </a:solidFill>
                <a:latin typeface="Inter"/>
              </a:rPr>
              <a:t>dbt Gold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0237" y="1981200"/>
            <a:ext cx="695325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64748B"/>
                </a:solidFill>
                <a:latin typeface="Inter"/>
              </a:rPr>
              <a:t>Star Schema Job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15187" y="1780334"/>
            <a:ext cx="133350" cy="1524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4831" y="1847850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66534"/>
                </a:solidFill>
                <a:latin typeface="Inter"/>
              </a:rPr>
              <a:t>Pytest Suite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831" y="1981200"/>
            <a:ext cx="62865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15803D"/>
                </a:solidFill>
                <a:latin typeface="Inter"/>
              </a:rPr>
              <a:t>Databricks Job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21440" y="1771650"/>
            <a:ext cx="133350" cy="1524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72750" y="1847850"/>
            <a:ext cx="7239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0369A1"/>
                </a:solidFill>
                <a:latin typeface="Inter"/>
              </a:rPr>
              <a:t>Success / 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2750" y="1981200"/>
            <a:ext cx="723900" cy="10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" b="0" i="0" u="none">
                <a:solidFill>
                  <a:srgbClr val="0284C7"/>
                </a:solidFill>
                <a:latin typeface="Inter"/>
              </a:rPr>
              <a:t>Pipeline Cleared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" y="2686050"/>
            <a:ext cx="123825" cy="1238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1525" y="472499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4736901"/>
            <a:ext cx="5548610" cy="133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Task Dependency Enforcement: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Ensures Gold models only build upon verified Silver outputs.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525" y="491549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4927401"/>
            <a:ext cx="5548610" cy="133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dbt Cloud Execution: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Triggers API runs on dbt Cloud and polls completion states asynchronously.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525" y="510599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675" y="5117901"/>
            <a:ext cx="5548610" cy="133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Databricks Validation Integration: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Spawns ephemeral Databricks testing jobs to execute Pytest checks.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525" y="529649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675" y="5308401"/>
            <a:ext cx="5548610" cy="133350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334155"/>
                </a:solidFill>
                <a:latin typeface="Inter"/>
              </a:rPr>
              <a:t>Automated Retries:</a:t>
            </a:r>
            <a:r>
              <a:rPr sz="862" b="0" i="0" u="none">
                <a:solidFill>
                  <a:srgbClr val="334155"/>
                </a:solidFill>
                <a:latin typeface="Inter"/>
              </a:rPr>
              <a:t> Handles intermittent network or cluster spin-up timeouts gracefully.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44010" y="2667000"/>
            <a:ext cx="133350" cy="15240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52525" y="1628775"/>
            <a:ext cx="171450" cy="1714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76162" y="1608896"/>
            <a:ext cx="181608" cy="181608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962650" y="1628775"/>
            <a:ext cx="190500" cy="1714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03431" y="1628775"/>
            <a:ext cx="171450" cy="1714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848975" y="1628775"/>
            <a:ext cx="171450" cy="1714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48785" y="4594026"/>
            <a:ext cx="1209675" cy="13335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Inter"/>
              </a:rPr>
              <a:t>On Pipeline Success: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8785" y="4746426"/>
            <a:ext cx="44812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Broadcasts pipeline runtime, row counts, and test passage to #data-ops.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8785" y="5089326"/>
            <a:ext cx="1143000" cy="1333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91B1B"/>
                </a:solidFill>
                <a:latin typeface="Inter"/>
              </a:rPr>
              <a:t>On Failure Callback: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8785" y="5241726"/>
            <a:ext cx="4481214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475569"/>
                </a:solidFill>
                <a:latin typeface="Inter"/>
              </a:rPr>
              <a:t>Triggers instant alert with task ID, error log snippet, and retry link.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48785" y="4613076"/>
            <a:ext cx="9525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948785" y="5108376"/>
            <a:ext cx="104775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8411" y="1513634"/>
            <a:ext cx="971550" cy="68580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2119313" y="1803395"/>
            <a:ext cx="6858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825" b="1" dirty="0" smtClean="0">
                <a:solidFill>
                  <a:srgbClr val="0F172A"/>
                </a:solidFill>
                <a:latin typeface="Inter"/>
              </a:rPr>
              <a:t>           Bronze</a:t>
            </a:r>
            <a:endParaRPr sz="825" b="1" i="0" u="none" dirty="0">
              <a:solidFill>
                <a:srgbClr val="0F172A"/>
              </a:solidFill>
              <a:latin typeface="Inter"/>
            </a:endParaRPr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1826661" y="1812131"/>
            <a:ext cx="2167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25" idx="1"/>
          </p:cNvCxnSpPr>
          <p:nvPr/>
        </p:nvCxnSpPr>
        <p:spPr>
          <a:xfrm>
            <a:off x="3350417" y="1875610"/>
            <a:ext cx="166838" cy="8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5588496"/>
            <a:ext cx="11163300" cy="4342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2679948"/>
            <a:ext cx="2705100" cy="695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2679948"/>
            <a:ext cx="2705100" cy="6953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2679948"/>
            <a:ext cx="2705100" cy="695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2679948"/>
            <a:ext cx="2705100" cy="6953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" y="3489573"/>
            <a:ext cx="2705100" cy="8191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50" y="3489573"/>
            <a:ext cx="2705100" cy="8191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3489573"/>
            <a:ext cx="2705100" cy="8191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3489573"/>
            <a:ext cx="2705100" cy="8191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4350" y="419100"/>
            <a:ext cx="530753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Plus Jakarta Sans ExtraBold"/>
              </a:rPr>
              <a:t>Final Platform Outcome &amp; Strategic Impact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" y="1057275"/>
            <a:ext cx="111633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4375" y="1162050"/>
            <a:ext cx="6762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E2E8F0"/>
                </a:solidFill>
                <a:latin typeface="Inter SemiBold"/>
              </a:rPr>
              <a:t>Source CSVs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7805" y="1173956"/>
            <a:ext cx="95250" cy="10953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40210" y="1162050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38BDF8"/>
                </a:solidFill>
                <a:latin typeface="Inter SemiBold"/>
              </a:rPr>
              <a:t>ADF &amp; ADLS Gen2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866" y="1173956"/>
            <a:ext cx="95250" cy="1095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42271" y="1162050"/>
            <a:ext cx="390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FDBA74"/>
                </a:solidFill>
                <a:latin typeface="Inter SemiBold"/>
              </a:rPr>
              <a:t>Bronze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9952" y="1173956"/>
            <a:ext cx="95250" cy="1095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2357" y="1162050"/>
            <a:ext cx="8286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CBD5E1"/>
                </a:solidFill>
                <a:latin typeface="Inter SemiBold"/>
              </a:rPr>
              <a:t>Silver Cleansed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8188" y="1173956"/>
            <a:ext cx="95250" cy="10953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60593" y="1162050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FDE047"/>
                </a:solidFill>
                <a:latin typeface="Inter SemiBold"/>
              </a:rPr>
              <a:t>Gold Star Schema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0249" y="1173956"/>
            <a:ext cx="95250" cy="1095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762654" y="1162050"/>
            <a:ext cx="71437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2" b="0" i="0" u="none">
                <a:solidFill>
                  <a:srgbClr val="86EFAC"/>
                </a:solidFill>
                <a:latin typeface="Inter SemiBold"/>
              </a:rPr>
              <a:t>Databricks BI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375" y="5712321"/>
            <a:ext cx="10763250" cy="186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70"/>
              </a:lnSpc>
            </a:pPr>
            <a:r>
              <a:rPr sz="1050" b="1" i="0" u="none">
                <a:solidFill>
                  <a:srgbClr val="E0F2FE"/>
                </a:solidFill>
                <a:latin typeface="Plus Jakarta Sans"/>
              </a:rPr>
              <a:t>“The platform transforms raw e-commerce data into trusted, actionable business insights through a scalable and automated analytics architecture.”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25" y="2984748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Centralized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125" y="3146673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Unified repository eliminating fragmented CSVs.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525" y="2984748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Medallion Standard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525" y="3146673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Bronze raw to Gold business-ready progression.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7925" y="2984748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Clean Silver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7925" y="3146673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Deduplicated records with parsed timestamps.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7325" y="2984748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Gold Star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7325" y="3146673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Optimized fact and conformed dimensions.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125" y="3794373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Dashboard Ready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3956298"/>
            <a:ext cx="24955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Pre-aggregated measures enabling zero runtime joins.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525" y="3794373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Airflow Automated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38525" y="3956298"/>
            <a:ext cx="24955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Complete DAG execution and Slack status webhooks.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7925" y="3794373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Automated Pytest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7925" y="3956298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 smtClean="0">
                <a:solidFill>
                  <a:srgbClr val="94A3B8"/>
                </a:solidFill>
                <a:latin typeface="Inter"/>
              </a:rPr>
              <a:t>43/4</a:t>
            </a:r>
            <a:r>
              <a:rPr lang="en-IN" sz="787" b="0" i="0" u="none" dirty="0" smtClean="0">
                <a:solidFill>
                  <a:srgbClr val="94A3B8"/>
                </a:solidFill>
                <a:latin typeface="Inter"/>
              </a:rPr>
              <a:t>6</a:t>
            </a:r>
            <a:r>
              <a:rPr sz="787" b="0" i="0" u="none" dirty="0" smtClean="0">
                <a:solidFill>
                  <a:srgbClr val="94A3B8"/>
                </a:solidFill>
                <a:latin typeface="Inter"/>
              </a:rPr>
              <a:t> </a:t>
            </a:r>
            <a:r>
              <a:rPr sz="787" b="0" i="0" u="none" dirty="0">
                <a:solidFill>
                  <a:srgbClr val="94A3B8"/>
                </a:solidFill>
                <a:latin typeface="Inter"/>
              </a:rPr>
              <a:t>tests passing quality gate before serving.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7325" y="3794373"/>
            <a:ext cx="2495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Inter"/>
              </a:rPr>
              <a:t>Commercial Sales BI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7325" y="3956298"/>
            <a:ext cx="249555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>
                <a:solidFill>
                  <a:srgbClr val="94A3B8"/>
                </a:solidFill>
                <a:latin typeface="Inter"/>
              </a:rPr>
              <a:t>Verified commercial decisions for leadership.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803773"/>
            <a:ext cx="114300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8525" y="2803773"/>
            <a:ext cx="152400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7925" y="2803773"/>
            <a:ext cx="133350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7325" y="2803773"/>
            <a:ext cx="152400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3613398"/>
            <a:ext cx="152400" cy="13335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8525" y="3613398"/>
            <a:ext cx="133350" cy="13335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57925" y="3613398"/>
            <a:ext cx="133350" cy="13335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77325" y="3613398"/>
            <a:ext cx="114300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1087</Words>
  <Application>Microsoft Office PowerPoint</Application>
  <PresentationFormat>Widescreen</PresentationFormat>
  <Paragraphs>182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Inter</vt:lpstr>
      <vt:lpstr>Inter SemiBold</vt:lpstr>
      <vt:lpstr>monospace</vt:lpstr>
      <vt:lpstr>Plus Jakarta Sans</vt:lpstr>
      <vt:lpstr>Plus Jakarta Sans ExtraBold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Manjunath</dc:creator>
  <cp:keywords/>
  <dc:description>generated using python-pptx</dc:description>
  <cp:lastModifiedBy>Manjunath Reddy</cp:lastModifiedBy>
  <cp:revision>13</cp:revision>
  <dcterms:created xsi:type="dcterms:W3CDTF">2013-01-27T09:14:16Z</dcterms:created>
  <dcterms:modified xsi:type="dcterms:W3CDTF">2026-09-11T17:33:34Z</dcterms:modified>
  <cp:category/>
</cp:coreProperties>
</file>